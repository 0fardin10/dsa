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6A783F-23BB-43CC-9E8D-45C700610A8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86891E-F4D8-405C-85DB-79614310DBC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4304F2-9B83-4D15-B9E5-30A7140B156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EFE06A-1A0E-44CA-BEFF-ADA58C76052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F91B0A-FC13-484D-9420-EB89481EE04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450B01-B49D-40A5-A3C3-4EC370AD930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D47E67-E6F8-4569-B2E9-1817C8C74C6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9F5760-A9DE-4921-A429-3F2FF156423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217920" y="1005840"/>
            <a:ext cx="2377080" cy="548280"/>
          </a:xfrm>
          <a:prstGeom prst="rect">
            <a:avLst/>
          </a:prstGeom>
          <a:solidFill>
            <a:srgbClr val="1a3a5c"/>
          </a:solidFill>
          <a:ln w="254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217920" y="10058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TOP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217920" y="1664280"/>
            <a:ext cx="2377080" cy="548280"/>
          </a:xfrm>
          <a:prstGeom prst="rect">
            <a:avLst/>
          </a:prstGeom>
          <a:solidFill>
            <a:srgbClr val="1a3a5c"/>
          </a:solidFill>
          <a:ln w="254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217920" y="166428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...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217920" y="2322720"/>
            <a:ext cx="2377080" cy="548280"/>
          </a:xfrm>
          <a:prstGeom prst="rect">
            <a:avLst/>
          </a:prstGeom>
          <a:solidFill>
            <a:srgbClr val="1a3a5c"/>
          </a:solidFill>
          <a:ln w="254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217920" y="23227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BOTTOM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7178040" y="502920"/>
            <a:ext cx="360" cy="411480"/>
          </a:xfrm>
          <a:prstGeom prst="line">
            <a:avLst/>
          </a:prstGeom>
          <a:ln w="381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217920" y="2743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PUSH ↓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274320" y="274320"/>
            <a:ext cx="2925720" cy="319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74320" y="2743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DATA STRUCTURES &amp; ALGORITHMS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274320" y="914400"/>
            <a:ext cx="5486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STACK</a:t>
            </a:r>
            <a:endParaRPr b="0" lang="en-US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320040" y="22402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4a228"/>
                </a:solidFill>
                <a:effectLst/>
                <a:uFillTx/>
                <a:latin typeface="Georgia"/>
                <a:ea typeface="Georgia"/>
              </a:rPr>
              <a:t>Data Structure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320040" y="28346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Last In, First Out — LIFO Principle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274320" y="4754880"/>
            <a:ext cx="859500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Presented by: Fardin Zabir,Abul Hasnat, Ibrahim Hasan  |  Student ID: 4657,4655,4656 |  World University of Bangladesh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868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365760" y="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What is a Stack?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0" y="0"/>
            <a:ext cx="72720" cy="86832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365760" y="1005840"/>
            <a:ext cx="5120280" cy="1005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02920" y="105156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Definition: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Stack is a linear data structure that follows the </a:t>
            </a:r>
            <a:r>
              <a:rPr b="1" lang="en-US" sz="13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LIFO (Last In, First Out)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principle — the last element inserted is the first to be removed.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365760" y="2148840"/>
            <a:ext cx="5120280" cy="822600"/>
          </a:xfrm>
          <a:prstGeom prst="rect">
            <a:avLst/>
          </a:prstGeom>
          <a:solidFill>
            <a:srgbClr val="f9c56a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502920" y="2148840"/>
            <a:ext cx="4845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💡 Real-life analogy: A stack of plates — you add and remove from the TOP only!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365760" y="3108960"/>
            <a:ext cx="255600" cy="25560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365760" y="3108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713160" y="310896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Elements can only be added or removed from the TOP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365760" y="3493080"/>
            <a:ext cx="255600" cy="25560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365760" y="34930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713160" y="349308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Supports only one end for both insert &amp; delete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365760" y="3877200"/>
            <a:ext cx="255600" cy="25560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365760" y="38772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713160" y="387720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Can be implemented using Arrays or Linked Lists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365760" y="4260960"/>
            <a:ext cx="255600" cy="25560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365760" y="4260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713160" y="426096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Used in function calls, undo operations, expression parsing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6400800" y="1005840"/>
            <a:ext cx="2285640" cy="548280"/>
          </a:xfrm>
          <a:prstGeom prst="rect">
            <a:avLst/>
          </a:prstGeom>
          <a:solidFill>
            <a:srgbClr val="f4a228"/>
          </a:solidFill>
          <a:ln w="254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6400800" y="10058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30 ← TOP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1"/>
          <p:cNvSpPr/>
          <p:nvPr/>
        </p:nvSpPr>
        <p:spPr>
          <a:xfrm>
            <a:off x="6400800" y="1645920"/>
            <a:ext cx="2285640" cy="548280"/>
          </a:xfrm>
          <a:prstGeom prst="rect">
            <a:avLst/>
          </a:prstGeom>
          <a:solidFill>
            <a:srgbClr val="1a3a5c"/>
          </a:solidFill>
          <a:ln w="254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6400800" y="16459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3"/>
          <p:cNvSpPr/>
          <p:nvPr/>
        </p:nvSpPr>
        <p:spPr>
          <a:xfrm>
            <a:off x="6400800" y="2286000"/>
            <a:ext cx="2285640" cy="548280"/>
          </a:xfrm>
          <a:prstGeom prst="rect">
            <a:avLst/>
          </a:prstGeom>
          <a:solidFill>
            <a:srgbClr val="1a3a5c"/>
          </a:solidFill>
          <a:ln w="254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6400800" y="22860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5"/>
          <p:cNvSpPr/>
          <p:nvPr/>
        </p:nvSpPr>
        <p:spPr>
          <a:xfrm>
            <a:off x="6400800" y="2926080"/>
            <a:ext cx="2285640" cy="109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6217920" y="310896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Stack Visualization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850392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2 / 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640" cy="868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365760" y="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Stack Operations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0" y="0"/>
            <a:ext cx="72720" cy="86832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365760" y="960120"/>
            <a:ext cx="841212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365760" y="960120"/>
            <a:ext cx="72720" cy="685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502920" y="96012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▲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1005840" y="96012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1628"/>
                </a:solidFill>
                <a:effectLst/>
                <a:uFillTx/>
                <a:latin typeface="Consolas"/>
                <a:ea typeface="Consolas"/>
              </a:rPr>
              <a:t>push(x)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2880360" y="96012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Insert element x at the TOP of the stack.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365760" y="1755720"/>
            <a:ext cx="841212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365760" y="1755720"/>
            <a:ext cx="72720" cy="685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02920" y="175572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87171"/>
                </a:solidFill>
                <a:effectLst/>
                <a:uFillTx/>
                <a:latin typeface="Calibri"/>
              </a:rPr>
              <a:t>▼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1005840" y="175572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1628"/>
                </a:solidFill>
                <a:effectLst/>
                <a:uFillTx/>
                <a:latin typeface="Consolas"/>
                <a:ea typeface="Consolas"/>
              </a:rPr>
              <a:t>pop()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2880360" y="175572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Remove and return the TOP element from the stack.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365760" y="2551320"/>
            <a:ext cx="841212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365760" y="2551320"/>
            <a:ext cx="72720" cy="6854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502920" y="255132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👁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1005840" y="255132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1628"/>
                </a:solidFill>
                <a:effectLst/>
                <a:uFillTx/>
                <a:latin typeface="Consolas"/>
                <a:ea typeface="Consolas"/>
              </a:rPr>
              <a:t>peek() / top()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2880360" y="255132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Return the TOP element without removing it.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8"/>
          <p:cNvSpPr/>
          <p:nvPr/>
        </p:nvSpPr>
        <p:spPr>
          <a:xfrm>
            <a:off x="365760" y="3346560"/>
            <a:ext cx="841212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9"/>
          <p:cNvSpPr/>
          <p:nvPr/>
        </p:nvSpPr>
        <p:spPr>
          <a:xfrm>
            <a:off x="365760" y="3346560"/>
            <a:ext cx="7272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502920" y="334656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1005840" y="334656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1628"/>
                </a:solidFill>
                <a:effectLst/>
                <a:uFillTx/>
                <a:latin typeface="Consolas"/>
                <a:ea typeface="Consolas"/>
              </a:rPr>
              <a:t>isEmpty()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2880360" y="334656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Check whether the stack has no elements.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3"/>
          <p:cNvSpPr/>
          <p:nvPr/>
        </p:nvSpPr>
        <p:spPr>
          <a:xfrm>
            <a:off x="365760" y="4142160"/>
            <a:ext cx="841212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4"/>
          <p:cNvSpPr/>
          <p:nvPr/>
        </p:nvSpPr>
        <p:spPr>
          <a:xfrm>
            <a:off x="365760" y="4142160"/>
            <a:ext cx="72720" cy="685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5"/>
          <p:cNvSpPr/>
          <p:nvPr/>
        </p:nvSpPr>
        <p:spPr>
          <a:xfrm>
            <a:off x="502920" y="4142160"/>
            <a:ext cx="45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a3a5c"/>
                </a:solidFill>
                <a:effectLst/>
                <a:uFillTx/>
                <a:latin typeface="Calibri"/>
              </a:rPr>
              <a:t>#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6"/>
          <p:cNvSpPr/>
          <p:nvPr/>
        </p:nvSpPr>
        <p:spPr>
          <a:xfrm>
            <a:off x="1005840" y="414216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1628"/>
                </a:solidFill>
                <a:effectLst/>
                <a:uFillTx/>
                <a:latin typeface="Consolas"/>
                <a:ea typeface="Consolas"/>
              </a:rPr>
              <a:t>size()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2880360" y="414216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Return the total number of elements in the stack.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8"/>
          <p:cNvSpPr/>
          <p:nvPr/>
        </p:nvSpPr>
        <p:spPr>
          <a:xfrm>
            <a:off x="365760" y="4800600"/>
            <a:ext cx="8412120" cy="228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9"/>
          <p:cNvSpPr/>
          <p:nvPr/>
        </p:nvSpPr>
        <p:spPr>
          <a:xfrm>
            <a:off x="365760" y="480060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Time Complexity: All operations → O(1)   |   Space Complexity: O(n)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0"/>
          <p:cNvSpPr/>
          <p:nvPr/>
        </p:nvSpPr>
        <p:spPr>
          <a:xfrm>
            <a:off x="8503920" y="5047560"/>
            <a:ext cx="5482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3 / 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274320" y="10980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Implementation (C Language)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274320" y="59436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Array-Based Stack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274320" y="1005840"/>
            <a:ext cx="5028840" cy="374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411480" y="10972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#define MAX 100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411480" y="132120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int stack[MAX];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411480" y="15454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int top = -1;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411480" y="176940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411480" y="19933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4a228"/>
                </a:solidFill>
                <a:effectLst/>
                <a:uFillTx/>
                <a:latin typeface="Consolas"/>
                <a:ea typeface="Consolas"/>
              </a:rPr>
              <a:t>void push(int x) {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411480" y="221760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if (top == MAX-1)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411480" y="24415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    printf("Overflow");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411480" y="26654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  else stack[++top] = x;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411480" y="288936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4a228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411480" y="31136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411480" y="333756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4a228"/>
                </a:solidFill>
                <a:effectLst/>
                <a:uFillTx/>
                <a:latin typeface="Consolas"/>
                <a:ea typeface="Consolas"/>
              </a:rPr>
              <a:t>int pop() {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411480" y="35614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if (top == -1)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411480" y="378576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    printf("Underflow");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411480" y="40096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  else return stack[top--];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411480" y="423360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4a228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5532120" y="1005840"/>
            <a:ext cx="3382920" cy="804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0"/>
          <p:cNvSpPr/>
          <p:nvPr/>
        </p:nvSpPr>
        <p:spPr>
          <a:xfrm>
            <a:off x="5532120" y="1005840"/>
            <a:ext cx="54360" cy="8042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1"/>
          <p:cNvSpPr/>
          <p:nvPr/>
        </p:nvSpPr>
        <p:spPr>
          <a:xfrm>
            <a:off x="5669280" y="10058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Stack Array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5669280" y="1316880"/>
            <a:ext cx="3200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Fixed-size array stores all elements. MAX defines the capacity.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5532120" y="1938600"/>
            <a:ext cx="3382920" cy="804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4"/>
          <p:cNvSpPr/>
          <p:nvPr/>
        </p:nvSpPr>
        <p:spPr>
          <a:xfrm>
            <a:off x="5532120" y="1938600"/>
            <a:ext cx="54360" cy="8042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5"/>
          <p:cNvSpPr/>
          <p:nvPr/>
        </p:nvSpPr>
        <p:spPr>
          <a:xfrm>
            <a:off x="5669280" y="19386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top pointer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6"/>
          <p:cNvSpPr/>
          <p:nvPr/>
        </p:nvSpPr>
        <p:spPr>
          <a:xfrm>
            <a:off x="5669280" y="2249280"/>
            <a:ext cx="3200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Tracks the topmost element index. Starts at -1 (empty stack).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7"/>
          <p:cNvSpPr/>
          <p:nvPr/>
        </p:nvSpPr>
        <p:spPr>
          <a:xfrm>
            <a:off x="5532120" y="2871360"/>
            <a:ext cx="3382920" cy="804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8"/>
          <p:cNvSpPr/>
          <p:nvPr/>
        </p:nvSpPr>
        <p:spPr>
          <a:xfrm>
            <a:off x="5532120" y="2871360"/>
            <a:ext cx="54360" cy="8042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9"/>
          <p:cNvSpPr/>
          <p:nvPr/>
        </p:nvSpPr>
        <p:spPr>
          <a:xfrm>
            <a:off x="5669280" y="28713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Overflow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0"/>
          <p:cNvSpPr/>
          <p:nvPr/>
        </p:nvSpPr>
        <p:spPr>
          <a:xfrm>
            <a:off x="5669280" y="3182040"/>
            <a:ext cx="3200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When push is called on a full stack (top == MAX-1).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1"/>
          <p:cNvSpPr/>
          <p:nvPr/>
        </p:nvSpPr>
        <p:spPr>
          <a:xfrm>
            <a:off x="5532120" y="3803760"/>
            <a:ext cx="3382920" cy="804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2"/>
          <p:cNvSpPr/>
          <p:nvPr/>
        </p:nvSpPr>
        <p:spPr>
          <a:xfrm>
            <a:off x="5532120" y="3803760"/>
            <a:ext cx="54360" cy="8042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3"/>
          <p:cNvSpPr/>
          <p:nvPr/>
        </p:nvSpPr>
        <p:spPr>
          <a:xfrm>
            <a:off x="5669280" y="38037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Underflow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4"/>
          <p:cNvSpPr/>
          <p:nvPr/>
        </p:nvSpPr>
        <p:spPr>
          <a:xfrm>
            <a:off x="5669280" y="4114800"/>
            <a:ext cx="3200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When pop is called on an empty stack (top == -1).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5"/>
          <p:cNvSpPr/>
          <p:nvPr/>
        </p:nvSpPr>
        <p:spPr>
          <a:xfrm>
            <a:off x="8503920" y="4983480"/>
            <a:ext cx="548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4 / 7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43640" cy="868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365760" y="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PUSH &amp; POP — Step by Step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0" y="0"/>
            <a:ext cx="72720" cy="86832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365760" y="100584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PUSH Operation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320040" y="2523600"/>
            <a:ext cx="1737000" cy="49356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320040" y="1993320"/>
            <a:ext cx="1737000" cy="49356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320040" y="1463040"/>
            <a:ext cx="1737000" cy="49356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320040" y="31089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Start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(empty)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2112120" y="210312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→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9"/>
          <p:cNvSpPr/>
          <p:nvPr/>
        </p:nvSpPr>
        <p:spPr>
          <a:xfrm>
            <a:off x="2468880" y="2523600"/>
            <a:ext cx="1737000" cy="493560"/>
          </a:xfrm>
          <a:prstGeom prst="rect">
            <a:avLst/>
          </a:prstGeom>
          <a:solidFill>
            <a:srgbClr val="2dd4bf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2468880" y="2523600"/>
            <a:ext cx="1737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▶ 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2468880" y="1993320"/>
            <a:ext cx="1737000" cy="49356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2"/>
          <p:cNvSpPr/>
          <p:nvPr/>
        </p:nvSpPr>
        <p:spPr>
          <a:xfrm>
            <a:off x="2468880" y="1463040"/>
            <a:ext cx="1737000" cy="49356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2468880" y="31089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push(10)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4260960" y="210312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→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5"/>
          <p:cNvSpPr/>
          <p:nvPr/>
        </p:nvSpPr>
        <p:spPr>
          <a:xfrm>
            <a:off x="4617720" y="2523600"/>
            <a:ext cx="1737000" cy="493560"/>
          </a:xfrm>
          <a:prstGeom prst="rect">
            <a:avLst/>
          </a:prstGeom>
          <a:solidFill>
            <a:srgbClr val="1a3a5c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4617720" y="2523600"/>
            <a:ext cx="1737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7"/>
          <p:cNvSpPr/>
          <p:nvPr/>
        </p:nvSpPr>
        <p:spPr>
          <a:xfrm>
            <a:off x="4617720" y="1993320"/>
            <a:ext cx="1737000" cy="493560"/>
          </a:xfrm>
          <a:prstGeom prst="rect">
            <a:avLst/>
          </a:prstGeom>
          <a:solidFill>
            <a:srgbClr val="2dd4bf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8"/>
          <p:cNvSpPr/>
          <p:nvPr/>
        </p:nvSpPr>
        <p:spPr>
          <a:xfrm>
            <a:off x="4617720" y="1993320"/>
            <a:ext cx="1737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▶ 20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9"/>
          <p:cNvSpPr/>
          <p:nvPr/>
        </p:nvSpPr>
        <p:spPr>
          <a:xfrm>
            <a:off x="4617720" y="1463040"/>
            <a:ext cx="1737000" cy="49356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0"/>
          <p:cNvSpPr/>
          <p:nvPr/>
        </p:nvSpPr>
        <p:spPr>
          <a:xfrm>
            <a:off x="4617720" y="31089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push(20)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1"/>
          <p:cNvSpPr/>
          <p:nvPr/>
        </p:nvSpPr>
        <p:spPr>
          <a:xfrm>
            <a:off x="6409800" y="210312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→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2"/>
          <p:cNvSpPr/>
          <p:nvPr/>
        </p:nvSpPr>
        <p:spPr>
          <a:xfrm>
            <a:off x="6766560" y="2523600"/>
            <a:ext cx="1737000" cy="493560"/>
          </a:xfrm>
          <a:prstGeom prst="rect">
            <a:avLst/>
          </a:prstGeom>
          <a:solidFill>
            <a:srgbClr val="1a3a5c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3"/>
          <p:cNvSpPr/>
          <p:nvPr/>
        </p:nvSpPr>
        <p:spPr>
          <a:xfrm>
            <a:off x="6766560" y="2523600"/>
            <a:ext cx="1737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4"/>
          <p:cNvSpPr/>
          <p:nvPr/>
        </p:nvSpPr>
        <p:spPr>
          <a:xfrm>
            <a:off x="6766560" y="1993320"/>
            <a:ext cx="1737000" cy="493560"/>
          </a:xfrm>
          <a:prstGeom prst="rect">
            <a:avLst/>
          </a:prstGeom>
          <a:solidFill>
            <a:srgbClr val="1a3a5c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5"/>
          <p:cNvSpPr/>
          <p:nvPr/>
        </p:nvSpPr>
        <p:spPr>
          <a:xfrm>
            <a:off x="6766560" y="1993320"/>
            <a:ext cx="1737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6"/>
          <p:cNvSpPr/>
          <p:nvPr/>
        </p:nvSpPr>
        <p:spPr>
          <a:xfrm>
            <a:off x="6766560" y="1463040"/>
            <a:ext cx="1737000" cy="493560"/>
          </a:xfrm>
          <a:prstGeom prst="rect">
            <a:avLst/>
          </a:prstGeom>
          <a:solidFill>
            <a:srgbClr val="2dd4bf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7"/>
          <p:cNvSpPr/>
          <p:nvPr/>
        </p:nvSpPr>
        <p:spPr>
          <a:xfrm>
            <a:off x="6766560" y="1463040"/>
            <a:ext cx="1737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▶ 30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8"/>
          <p:cNvSpPr/>
          <p:nvPr/>
        </p:nvSpPr>
        <p:spPr>
          <a:xfrm>
            <a:off x="6766560" y="31089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push(30)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9"/>
          <p:cNvSpPr/>
          <p:nvPr/>
        </p:nvSpPr>
        <p:spPr>
          <a:xfrm>
            <a:off x="365760" y="36118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87171"/>
                </a:solidFill>
                <a:effectLst/>
                <a:uFillTx/>
                <a:latin typeface="Calibri"/>
              </a:rPr>
              <a:t>POP Operation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0"/>
          <p:cNvSpPr/>
          <p:nvPr/>
        </p:nvSpPr>
        <p:spPr>
          <a:xfrm>
            <a:off x="320040" y="4380120"/>
            <a:ext cx="1737000" cy="159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1"/>
          <p:cNvSpPr/>
          <p:nvPr/>
        </p:nvSpPr>
        <p:spPr>
          <a:xfrm>
            <a:off x="320040" y="4380120"/>
            <a:ext cx="17370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2"/>
          <p:cNvSpPr/>
          <p:nvPr/>
        </p:nvSpPr>
        <p:spPr>
          <a:xfrm>
            <a:off x="320040" y="4210920"/>
            <a:ext cx="1737000" cy="159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3"/>
          <p:cNvSpPr/>
          <p:nvPr/>
        </p:nvSpPr>
        <p:spPr>
          <a:xfrm>
            <a:off x="320040" y="4210920"/>
            <a:ext cx="17370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4"/>
          <p:cNvSpPr/>
          <p:nvPr/>
        </p:nvSpPr>
        <p:spPr>
          <a:xfrm>
            <a:off x="320040" y="4041720"/>
            <a:ext cx="1737000" cy="159840"/>
          </a:xfrm>
          <a:prstGeom prst="rect">
            <a:avLst/>
          </a:prstGeom>
          <a:solidFill>
            <a:srgbClr val="f87171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5"/>
          <p:cNvSpPr/>
          <p:nvPr/>
        </p:nvSpPr>
        <p:spPr>
          <a:xfrm>
            <a:off x="320040" y="4041720"/>
            <a:ext cx="17370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6"/>
          <p:cNvSpPr/>
          <p:nvPr/>
        </p:nvSpPr>
        <p:spPr>
          <a:xfrm>
            <a:off x="320040" y="45993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Start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7"/>
          <p:cNvSpPr/>
          <p:nvPr/>
        </p:nvSpPr>
        <p:spPr>
          <a:xfrm>
            <a:off x="2112120" y="41605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87171"/>
                </a:solidFill>
                <a:effectLst/>
                <a:uFillTx/>
                <a:latin typeface="Calibri"/>
              </a:rPr>
              <a:t>→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8"/>
          <p:cNvSpPr/>
          <p:nvPr/>
        </p:nvSpPr>
        <p:spPr>
          <a:xfrm>
            <a:off x="2468880" y="4380120"/>
            <a:ext cx="1737000" cy="159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9"/>
          <p:cNvSpPr/>
          <p:nvPr/>
        </p:nvSpPr>
        <p:spPr>
          <a:xfrm>
            <a:off x="2468880" y="4380120"/>
            <a:ext cx="17370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0"/>
          <p:cNvSpPr/>
          <p:nvPr/>
        </p:nvSpPr>
        <p:spPr>
          <a:xfrm>
            <a:off x="2468880" y="4210920"/>
            <a:ext cx="1737000" cy="159840"/>
          </a:xfrm>
          <a:prstGeom prst="rect">
            <a:avLst/>
          </a:prstGeom>
          <a:solidFill>
            <a:srgbClr val="f87171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1"/>
          <p:cNvSpPr/>
          <p:nvPr/>
        </p:nvSpPr>
        <p:spPr>
          <a:xfrm>
            <a:off x="2468880" y="4210920"/>
            <a:ext cx="17370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2"/>
          <p:cNvSpPr/>
          <p:nvPr/>
        </p:nvSpPr>
        <p:spPr>
          <a:xfrm>
            <a:off x="2468880" y="4041720"/>
            <a:ext cx="1737000" cy="15984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3"/>
          <p:cNvSpPr/>
          <p:nvPr/>
        </p:nvSpPr>
        <p:spPr>
          <a:xfrm>
            <a:off x="2468880" y="45993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pop()→30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4"/>
          <p:cNvSpPr/>
          <p:nvPr/>
        </p:nvSpPr>
        <p:spPr>
          <a:xfrm>
            <a:off x="4260960" y="41605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87171"/>
                </a:solidFill>
                <a:effectLst/>
                <a:uFillTx/>
                <a:latin typeface="Calibri"/>
              </a:rPr>
              <a:t>→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5"/>
          <p:cNvSpPr/>
          <p:nvPr/>
        </p:nvSpPr>
        <p:spPr>
          <a:xfrm>
            <a:off x="4617720" y="4380120"/>
            <a:ext cx="1737000" cy="159840"/>
          </a:xfrm>
          <a:prstGeom prst="rect">
            <a:avLst/>
          </a:prstGeom>
          <a:solidFill>
            <a:srgbClr val="f87171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6"/>
          <p:cNvSpPr/>
          <p:nvPr/>
        </p:nvSpPr>
        <p:spPr>
          <a:xfrm>
            <a:off x="4617720" y="4380120"/>
            <a:ext cx="17370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7"/>
          <p:cNvSpPr/>
          <p:nvPr/>
        </p:nvSpPr>
        <p:spPr>
          <a:xfrm>
            <a:off x="4617720" y="4210920"/>
            <a:ext cx="1737000" cy="15984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8"/>
          <p:cNvSpPr/>
          <p:nvPr/>
        </p:nvSpPr>
        <p:spPr>
          <a:xfrm>
            <a:off x="4617720" y="4041720"/>
            <a:ext cx="1737000" cy="15984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9"/>
          <p:cNvSpPr/>
          <p:nvPr/>
        </p:nvSpPr>
        <p:spPr>
          <a:xfrm>
            <a:off x="4617720" y="45993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pop()→20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0"/>
          <p:cNvSpPr/>
          <p:nvPr/>
        </p:nvSpPr>
        <p:spPr>
          <a:xfrm>
            <a:off x="6409800" y="41605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87171"/>
                </a:solidFill>
                <a:effectLst/>
                <a:uFillTx/>
                <a:latin typeface="Calibri"/>
              </a:rPr>
              <a:t>→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51"/>
          <p:cNvSpPr/>
          <p:nvPr/>
        </p:nvSpPr>
        <p:spPr>
          <a:xfrm>
            <a:off x="6766560" y="4380120"/>
            <a:ext cx="1737000" cy="15984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2"/>
          <p:cNvSpPr/>
          <p:nvPr/>
        </p:nvSpPr>
        <p:spPr>
          <a:xfrm>
            <a:off x="6766560" y="4210920"/>
            <a:ext cx="1737000" cy="15984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53"/>
          <p:cNvSpPr/>
          <p:nvPr/>
        </p:nvSpPr>
        <p:spPr>
          <a:xfrm>
            <a:off x="6766560" y="4041720"/>
            <a:ext cx="1737000" cy="159840"/>
          </a:xfrm>
          <a:prstGeom prst="rect">
            <a:avLst/>
          </a:prstGeom>
          <a:solidFill>
            <a:srgbClr val="d1dce5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4"/>
          <p:cNvSpPr/>
          <p:nvPr/>
        </p:nvSpPr>
        <p:spPr>
          <a:xfrm>
            <a:off x="6766560" y="45993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pop()→10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(empty)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5"/>
          <p:cNvSpPr/>
          <p:nvPr/>
        </p:nvSpPr>
        <p:spPr>
          <a:xfrm>
            <a:off x="8503920" y="5010840"/>
            <a:ext cx="548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5 / 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0" y="0"/>
            <a:ext cx="9143640" cy="868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365760" y="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Applications of Stack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"/>
          <p:cNvSpPr/>
          <p:nvPr/>
        </p:nvSpPr>
        <p:spPr>
          <a:xfrm>
            <a:off x="0" y="0"/>
            <a:ext cx="72720" cy="86832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182880" y="960120"/>
            <a:ext cx="28159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"/>
          <p:cNvSpPr/>
          <p:nvPr/>
        </p:nvSpPr>
        <p:spPr>
          <a:xfrm>
            <a:off x="182880" y="960120"/>
            <a:ext cx="2815920" cy="7272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182880" y="1069920"/>
            <a:ext cx="281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📞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274320" y="160020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Function Call Stack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274320" y="1965960"/>
            <a:ext cx="2633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OS uses a stack to manage function calls and return addresses. Each call pushes a stack frame; return pops it.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>
            <a:off x="3163680" y="960120"/>
            <a:ext cx="28159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9"/>
          <p:cNvSpPr/>
          <p:nvPr/>
        </p:nvSpPr>
        <p:spPr>
          <a:xfrm>
            <a:off x="3163680" y="960120"/>
            <a:ext cx="2815920" cy="72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3163680" y="1069920"/>
            <a:ext cx="281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↩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3255120" y="160020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Undo / Redo Operations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3255120" y="1965960"/>
            <a:ext cx="2633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Text editors store actions in a stack. Ctrl+Z pops the last action to undo; Ctrl+Y redoes it.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6144840" y="960120"/>
            <a:ext cx="28159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4"/>
          <p:cNvSpPr/>
          <p:nvPr/>
        </p:nvSpPr>
        <p:spPr>
          <a:xfrm>
            <a:off x="6144840" y="960120"/>
            <a:ext cx="2815920" cy="72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6144840" y="1069920"/>
            <a:ext cx="281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{ 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6"/>
          <p:cNvSpPr/>
          <p:nvPr/>
        </p:nvSpPr>
        <p:spPr>
          <a:xfrm>
            <a:off x="6236280" y="160020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Expression Parsing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7"/>
          <p:cNvSpPr/>
          <p:nvPr/>
        </p:nvSpPr>
        <p:spPr>
          <a:xfrm>
            <a:off x="6236280" y="1965960"/>
            <a:ext cx="2633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Compilers use stacks to evaluate postfix/infix expressions and to check balanced parentheses/brackets.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8"/>
          <p:cNvSpPr/>
          <p:nvPr/>
        </p:nvSpPr>
        <p:spPr>
          <a:xfrm>
            <a:off x="182880" y="2926080"/>
            <a:ext cx="28159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9"/>
          <p:cNvSpPr/>
          <p:nvPr/>
        </p:nvSpPr>
        <p:spPr>
          <a:xfrm>
            <a:off x="182880" y="2926080"/>
            <a:ext cx="2815920" cy="727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0"/>
          <p:cNvSpPr/>
          <p:nvPr/>
        </p:nvSpPr>
        <p:spPr>
          <a:xfrm>
            <a:off x="182880" y="3035880"/>
            <a:ext cx="281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1"/>
          <p:cNvSpPr/>
          <p:nvPr/>
        </p:nvSpPr>
        <p:spPr>
          <a:xfrm>
            <a:off x="274320" y="356616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Browser History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2"/>
          <p:cNvSpPr/>
          <p:nvPr/>
        </p:nvSpPr>
        <p:spPr>
          <a:xfrm>
            <a:off x="274320" y="3931920"/>
            <a:ext cx="2633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The back/forward buttons in browsers use a stack to track visited pages.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3"/>
          <p:cNvSpPr/>
          <p:nvPr/>
        </p:nvSpPr>
        <p:spPr>
          <a:xfrm>
            <a:off x="3163680" y="2926080"/>
            <a:ext cx="28159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4"/>
          <p:cNvSpPr/>
          <p:nvPr/>
        </p:nvSpPr>
        <p:spPr>
          <a:xfrm>
            <a:off x="3163680" y="2926080"/>
            <a:ext cx="2815920" cy="72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5"/>
          <p:cNvSpPr/>
          <p:nvPr/>
        </p:nvSpPr>
        <p:spPr>
          <a:xfrm>
            <a:off x="3163680" y="3035880"/>
            <a:ext cx="281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🔄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6"/>
          <p:cNvSpPr/>
          <p:nvPr/>
        </p:nvSpPr>
        <p:spPr>
          <a:xfrm>
            <a:off x="3255120" y="356616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DFS Graph Traversal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7"/>
          <p:cNvSpPr/>
          <p:nvPr/>
        </p:nvSpPr>
        <p:spPr>
          <a:xfrm>
            <a:off x="3255120" y="3931920"/>
            <a:ext cx="2633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Depth-First Search (DFS) uses a stack (or recursion) to explore nodes deeply before backtracking.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8"/>
          <p:cNvSpPr/>
          <p:nvPr/>
        </p:nvSpPr>
        <p:spPr>
          <a:xfrm>
            <a:off x="6144840" y="2926080"/>
            <a:ext cx="28159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9"/>
          <p:cNvSpPr/>
          <p:nvPr/>
        </p:nvSpPr>
        <p:spPr>
          <a:xfrm>
            <a:off x="6144840" y="2926080"/>
            <a:ext cx="2815920" cy="72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0"/>
          <p:cNvSpPr/>
          <p:nvPr/>
        </p:nvSpPr>
        <p:spPr>
          <a:xfrm>
            <a:off x="6144840" y="3035880"/>
            <a:ext cx="281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📐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1"/>
          <p:cNvSpPr/>
          <p:nvPr/>
        </p:nvSpPr>
        <p:spPr>
          <a:xfrm>
            <a:off x="6236280" y="356616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Backtracking Algorithms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2"/>
          <p:cNvSpPr/>
          <p:nvPr/>
        </p:nvSpPr>
        <p:spPr>
          <a:xfrm>
            <a:off x="6236280" y="3931920"/>
            <a:ext cx="2633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Maze-solving, Sudoku, N-Queens — all use stacks to track paths and backtrack on dead ends.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3"/>
          <p:cNvSpPr/>
          <p:nvPr/>
        </p:nvSpPr>
        <p:spPr>
          <a:xfrm>
            <a:off x="8503920" y="5010840"/>
            <a:ext cx="548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899a6"/>
                </a:solidFill>
                <a:effectLst/>
                <a:uFillTx/>
                <a:latin typeface="Calibri"/>
              </a:rPr>
              <a:t>6 / 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274320" y="91440"/>
            <a:ext cx="8503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Summary &amp; Conclusion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365760" y="11430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Key Takeaways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"/>
          <p:cNvSpPr/>
          <p:nvPr/>
        </p:nvSpPr>
        <p:spPr>
          <a:xfrm>
            <a:off x="365760" y="1600200"/>
            <a:ext cx="228240" cy="2282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685800" y="157284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Stack is a LIFO (Last In, First Out) linear data structure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6"/>
          <p:cNvSpPr/>
          <p:nvPr/>
        </p:nvSpPr>
        <p:spPr>
          <a:xfrm>
            <a:off x="365760" y="2075760"/>
            <a:ext cx="228240" cy="2282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685800" y="204840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Core operations — push, pop, peek — all run in O(1) time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8"/>
          <p:cNvSpPr/>
          <p:nvPr/>
        </p:nvSpPr>
        <p:spPr>
          <a:xfrm>
            <a:off x="365760" y="2551320"/>
            <a:ext cx="228240" cy="2282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685800" y="252360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Can be implemented with arrays (fixed size) or linked lists (dynamic)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0"/>
          <p:cNvSpPr/>
          <p:nvPr/>
        </p:nvSpPr>
        <p:spPr>
          <a:xfrm>
            <a:off x="365760" y="3026520"/>
            <a:ext cx="228240" cy="2282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685800" y="299916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Essential for recursion, expression evaluation, and backtracking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2"/>
          <p:cNvSpPr/>
          <p:nvPr/>
        </p:nvSpPr>
        <p:spPr>
          <a:xfrm>
            <a:off x="365760" y="3502080"/>
            <a:ext cx="228240" cy="2282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685800" y="347472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Used internally by the OS for managing function call frames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5577840" y="11430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a228"/>
                </a:solidFill>
                <a:effectLst/>
                <a:uFillTx/>
                <a:latin typeface="Calibri"/>
              </a:rPr>
              <a:t>Array vs  Stack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4" name="Table 0"/>
          <p:cNvGraphicFramePr/>
          <p:nvPr/>
        </p:nvGraphicFramePr>
        <p:xfrm>
          <a:off x="5532120" y="1600200"/>
          <a:ext cx="3337200" cy="2045160"/>
        </p:xfrm>
        <a:graphic>
          <a:graphicData uri="http://schemas.openxmlformats.org/drawingml/2006/table">
            <a:tbl>
              <a:tblPr/>
              <a:tblGrid>
                <a:gridCol w="1112400"/>
                <a:gridCol w="1112400"/>
                <a:gridCol w="1112400"/>
              </a:tblGrid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4a228"/>
                          </a:solidFill>
                          <a:effectLst/>
                          <a:uFillTx/>
                          <a:latin typeface="Calibri"/>
                        </a:rPr>
                        <a:t>Feature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4a228"/>
                          </a:solidFill>
                          <a:effectLst/>
                          <a:uFillTx/>
                          <a:latin typeface="Calibri"/>
                        </a:rPr>
                        <a:t>Array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4a228"/>
                          </a:solidFill>
                          <a:effectLst/>
                          <a:uFillTx/>
                          <a:latin typeface="Calibri"/>
                        </a:rPr>
                        <a:t>Stack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Size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</a:rPr>
                        <a:t>Fixed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dd4bf"/>
                          </a:solidFill>
                          <a:effectLst/>
                          <a:uFillTx/>
                          <a:latin typeface="Calibri"/>
                        </a:rPr>
                        <a:t>Dynamic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12240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Memory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Contiguous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Non-contiguous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Speed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dd4bf"/>
                          </a:solidFill>
                          <a:effectLst/>
                          <a:uFillTx/>
                          <a:latin typeface="Calibri"/>
                        </a:rPr>
                        <a:t>Faster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Slightly slower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12240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Overflow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f87171"/>
                          </a:solidFill>
                          <a:effectLst/>
                          <a:uFillTx/>
                          <a:latin typeface="Calibri"/>
                        </a:rPr>
                        <a:t>Possible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dd4bf"/>
                          </a:solidFill>
                          <a:effectLst/>
                          <a:uFillTx/>
                          <a:latin typeface="Calibri"/>
                        </a:rPr>
                        <a:t>Rare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a3a5c"/>
                      </a:solidFill>
                      <a:prstDash val="solid"/>
                    </a:lnL>
                    <a:lnR w="12240">
                      <a:solidFill>
                        <a:srgbClr val="1a3a5c"/>
                      </a:solidFill>
                      <a:prstDash val="solid"/>
                    </a:lnR>
                    <a:lnT w="12240">
                      <a:solidFill>
                        <a:srgbClr val="1a3a5c"/>
                      </a:solidFill>
                      <a:prstDash val="solid"/>
                    </a:lnT>
                    <a:lnB w="12240">
                      <a:solidFill>
                        <a:srgbClr val="1a3a5c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225" name="Shape 15"/>
          <p:cNvSpPr/>
          <p:nvPr/>
        </p:nvSpPr>
        <p:spPr>
          <a:xfrm>
            <a:off x="0" y="4709160"/>
            <a:ext cx="9143640" cy="43416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6"/>
          <p:cNvSpPr/>
          <p:nvPr/>
        </p:nvSpPr>
        <p:spPr>
          <a:xfrm>
            <a:off x="274320" y="4709160"/>
            <a:ext cx="859500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1628"/>
                </a:solidFill>
                <a:effectLst/>
                <a:uFillTx/>
                <a:latin typeface="Calibri"/>
              </a:rPr>
              <a:t>Thank You!  |  Fardin Zabir,Abul Hasnat,Ibrahim Hasan  |  ID: 4657,4655,4656  |  World University of Bangladesh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2026-04-12T13:02:04Z</dcterms:created>
  <dc:creator>Fardin Zabir</dc:creator>
  <dc:description/>
  <dc:language>en-US</dc:language>
  <cp:lastModifiedBy/>
  <dcterms:modified xsi:type="dcterms:W3CDTF">2026-04-14T22:12:25Z</dcterms:modified>
  <cp:revision>2</cp:revision>
  <dc:subject>PptxGenJS Presentation</dc:subject>
  <dc:title>Stack Data Structure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