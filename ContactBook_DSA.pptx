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Book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Project — C Language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34440" y="3063240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Linked 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3063240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Binary Search Tree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3063240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EF9F27">
              <a:alpha val="8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Bubble Sort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Data Structures &amp;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CAA5"/>
                </a:solidFill>
              </a:rPr>
              <a:t>What is this project?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371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</a:rPr>
              <a:t>A command-line Contact Book in C that stores, searches, and sorts contacts using three core DSA concepts.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194560"/>
            <a:ext cx="2560320" cy="2011680"/>
          </a:xfrm>
          <a:prstGeom prst="rect">
            <a:avLst/>
          </a:prstGeom>
          <a:solidFill>
            <a:srgbClr val="162435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194560"/>
            <a:ext cx="256032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231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Linked List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Stores all contacts in a dynamic chain of nodes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91840" y="2194560"/>
            <a:ext cx="2560320" cy="2011680"/>
          </a:xfrm>
          <a:prstGeom prst="rect">
            <a:avLst/>
          </a:prstGeom>
          <a:solidFill>
            <a:srgbClr val="162435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91840" y="2194560"/>
            <a:ext cx="256032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4231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8328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Binary Search Tree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2900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Enables fast name-based search in O(log n) time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17920" y="2194560"/>
            <a:ext cx="2560320" cy="2011680"/>
          </a:xfrm>
          <a:prstGeom prst="rect">
            <a:avLst/>
          </a:prstGeom>
          <a:solidFill>
            <a:srgbClr val="162435"/>
          </a:solidFill>
          <a:ln w="1905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2194560"/>
            <a:ext cx="256032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42316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936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Bubble Sort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5508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Sorts contacts alphabetically from A to Z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Contact Struct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The foundation — every contact is stored as this 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0A1520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Node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</a:t>
            </a:r>
            <a:pPr indent="0" marL="0">
              <a:buNone/>
            </a:pPr>
            <a:r>
              <a:rPr lang="en-US" sz="14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</a:t>
            </a:r>
            <a:pPr indent="0" marL="0">
              <a:buNone/>
            </a:pPr>
            <a:r>
              <a:rPr lang="en-US" sz="14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</a:t>
            </a:r>
            <a:pPr indent="0" marL="0">
              <a:buNone/>
            </a:pPr>
            <a:r>
              <a:rPr lang="en-US" sz="14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Node </a:t>
            </a:r>
            <a:pPr indent="0" marL="0">
              <a:buNone/>
            </a:pPr>
            <a:r>
              <a:rPr lang="en-US" sz="140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*next</a:t>
            </a:r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Node;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931920" cy="594360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2252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name[50]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1490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Stores contact's full name (up to 50 chars)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938528"/>
            <a:ext cx="3931920" cy="594360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9751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phone[20]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Phone number string (up to 20 chars)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688336"/>
            <a:ext cx="3931920" cy="594360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email[50]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Email address (up to 50 chars)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438144"/>
            <a:ext cx="3931920" cy="594360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*next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739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Pointer to the next node in the Linked List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DSA #1 — Linked List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Stores all contacts in a dynamic chain. Each node holds data + a pointer to the next node.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234440" y="1325880"/>
            <a:ext cx="1554480" cy="685800"/>
          </a:xfrm>
          <a:prstGeom prst="rect">
            <a:avLst/>
          </a:prstGeom>
          <a:solidFill>
            <a:srgbClr val="162435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34440" y="1325880"/>
            <a:ext cx="1554480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3444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Rahim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17099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</a:rPr>
              <a:t>next →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1668780"/>
            <a:ext cx="59436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1325880"/>
            <a:ext cx="1554480" cy="685800"/>
          </a:xfrm>
          <a:prstGeom prst="rect">
            <a:avLst/>
          </a:prstGeom>
          <a:solidFill>
            <a:srgbClr val="162435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325880"/>
            <a:ext cx="1554480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Karim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83280" y="17099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</a:rPr>
              <a:t>next 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1668780"/>
            <a:ext cx="59436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32120" y="1325880"/>
            <a:ext cx="1554480" cy="685800"/>
          </a:xfrm>
          <a:prstGeom prst="rect">
            <a:avLst/>
          </a:prstGeom>
          <a:solidFill>
            <a:srgbClr val="162435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32120" y="1325880"/>
            <a:ext cx="1554480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3212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Nasrin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32120" y="17099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</a:rPr>
              <a:t>next 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680960" y="1481328"/>
            <a:ext cx="822960" cy="384048"/>
          </a:xfrm>
          <a:prstGeom prst="rect">
            <a:avLst/>
          </a:prstGeom>
          <a:solidFill>
            <a:srgbClr val="162435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0" y="14813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NULL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086600" y="1668780"/>
            <a:ext cx="594360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2286000"/>
            <a:ext cx="4114800" cy="2468880"/>
          </a:xfrm>
          <a:prstGeom prst="rect">
            <a:avLst/>
          </a:prstGeom>
          <a:solidFill>
            <a:srgbClr val="0A1520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242316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contact at end
</a:t>
            </a:r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addContact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(char *name, char *phone) {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 *n = malloc(sizeof(Node));
</a:t>
            </a:r>
            <a:pPr indent="0" marL="0">
              <a:buNone/>
            </a:pPr>
            <a:r>
              <a:rPr lang="en-US" sz="120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strcpy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(n-&gt;name, name);
</a:t>
            </a:r>
            <a:pPr indent="0" marL="0">
              <a:buNone/>
            </a:pPr>
            <a:r>
              <a:rPr lang="en-US" sz="120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strcpy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(n-&gt;phone, phone);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n-&gt;next = NULL;
</a:t>
            </a:r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walk to end, attach node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3172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2064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Dynamic size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120640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Grows/shrinks at runtime — no fixed array limit</a:t>
            </a:r>
            <a:endParaRPr lang="en-US" sz="11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916936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120640" y="2871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Easy insert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120640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New contact appended to end in simple steps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50215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12064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Easy delete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120640" y="3730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Unlink a node by updating the previous pointer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087368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20640" y="4041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O(n) search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5120640" y="4315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Must scan all nodes — that's why BST is used for search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DSA #2 — Binary Search Tree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Each contact is also inserted into a BST sorted by name — enabling fast O(log n) search.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0" y="1463040"/>
            <a:ext cx="-1828800" cy="45720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0" y="1463040"/>
            <a:ext cx="1828800" cy="45720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0" y="2148840"/>
            <a:ext cx="-1005840" cy="45720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2148840"/>
            <a:ext cx="640080" cy="45720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1234440"/>
            <a:ext cx="1463040" cy="457200"/>
          </a:xfrm>
          <a:prstGeom prst="rect">
            <a:avLst/>
          </a:prstGeom>
          <a:solidFill>
            <a:srgbClr val="162435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404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Karim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011680" y="1920240"/>
            <a:ext cx="1463040" cy="457200"/>
          </a:xfrm>
          <a:prstGeom prst="rect">
            <a:avLst/>
          </a:prstGeom>
          <a:solidFill>
            <a:srgbClr val="162435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01168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Rahim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0" y="1920240"/>
            <a:ext cx="1463040" cy="457200"/>
          </a:xfrm>
          <a:prstGeom prst="rect">
            <a:avLst/>
          </a:prstGeom>
          <a:solidFill>
            <a:srgbClr val="162435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Nasrin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97280" y="2606040"/>
            <a:ext cx="1280160" cy="457200"/>
          </a:xfrm>
          <a:prstGeom prst="rect">
            <a:avLst/>
          </a:prstGeom>
          <a:solidFill>
            <a:srgbClr val="162435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9728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Mitu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743200" y="2606040"/>
            <a:ext cx="1280160" cy="457200"/>
          </a:xfrm>
          <a:prstGeom prst="rect">
            <a:avLst/>
          </a:prstGeom>
          <a:solidFill>
            <a:srgbClr val="162435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74320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Rafi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03520" y="1234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9EC"/>
                </a:solidFill>
              </a:rPr>
              <a:t>root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3716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&lt; Karim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&gt; Karim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3246120"/>
            <a:ext cx="4206240" cy="1554480"/>
          </a:xfrm>
          <a:prstGeom prst="rect">
            <a:avLst/>
          </a:prstGeom>
          <a:solidFill>
            <a:srgbClr val="0A1520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3375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BSTNode*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(BSTNode *root, char *name) {
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(root == NULL) return NULL;
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cmp = strcmp(name, root-&gt;name);
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(cmp == 0) return root;
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(cmp &lt; 0)  return search(root-&gt;left, name);
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110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search(root-&gt;right, name);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246120"/>
            <a:ext cx="4023360" cy="438912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32735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A9EC"/>
                </a:solidFill>
              </a:rPr>
              <a:t>Insert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92040" y="3483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Name &lt; root → go left. Name &gt; root → go right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54880" y="3758184"/>
            <a:ext cx="4023360" cy="438912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92040" y="37856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A9EC"/>
                </a:solidFill>
              </a:rPr>
              <a:t>Search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92040" y="39959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Same logic — finds contact in O(log n) steps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4270248"/>
            <a:ext cx="4023360" cy="438912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92040" y="4297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A9EC"/>
                </a:solidFill>
              </a:rPr>
              <a:t>In-order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892040" y="4507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Traversing left→root→right prints A to Z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DSA #3 — Bubble Sort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Sorts contacts alphabetically (A → Z) by comparing adjacent names and swapping if out of order.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Before sorting: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463040"/>
            <a:ext cx="1234440" cy="457200"/>
          </a:xfrm>
          <a:prstGeom prst="rect">
            <a:avLst/>
          </a:prstGeom>
          <a:solidFill>
            <a:srgbClr val="162435"/>
          </a:solidFill>
          <a:ln w="15240">
            <a:solidFill>
              <a:srgbClr val="EF9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63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775"/>
                </a:solidFill>
              </a:rPr>
              <a:t>Rafi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09928" y="1463040"/>
            <a:ext cx="1234440" cy="457200"/>
          </a:xfrm>
          <a:prstGeom prst="rect">
            <a:avLst/>
          </a:prstGeom>
          <a:solidFill>
            <a:srgbClr val="162435"/>
          </a:solidFill>
          <a:ln w="15240">
            <a:solidFill>
              <a:srgbClr val="EF9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09928" y="1463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775"/>
                </a:solidFill>
              </a:rPr>
              <a:t>Rahim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054096" y="1463040"/>
            <a:ext cx="1234440" cy="457200"/>
          </a:xfrm>
          <a:prstGeom prst="rect">
            <a:avLst/>
          </a:prstGeom>
          <a:solidFill>
            <a:srgbClr val="162435"/>
          </a:solidFill>
          <a:ln w="15240">
            <a:solidFill>
              <a:srgbClr val="EF9F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54096" y="1463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775"/>
                </a:solidFill>
              </a:rPr>
              <a:t>Karim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98264" y="1463040"/>
            <a:ext cx="1234440" cy="457200"/>
          </a:xfrm>
          <a:prstGeom prst="rect">
            <a:avLst/>
          </a:prstGeom>
          <a:solidFill>
            <a:srgbClr val="162435"/>
          </a:solidFill>
          <a:ln w="15240">
            <a:solidFill>
              <a:srgbClr val="EF9F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8264" y="1463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775"/>
                </a:solidFill>
              </a:rPr>
              <a:t>Nasrin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42432" y="1463040"/>
            <a:ext cx="1234440" cy="457200"/>
          </a:xfrm>
          <a:prstGeom prst="rect">
            <a:avLst/>
          </a:prstGeom>
          <a:solidFill>
            <a:srgbClr val="162435"/>
          </a:solidFill>
          <a:ln w="15240">
            <a:solidFill>
              <a:srgbClr val="EF9F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1463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775"/>
                </a:solidFill>
              </a:rPr>
              <a:t>Mitu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0" y="2011680"/>
            <a:ext cx="0" cy="36576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9184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bubble sort →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After sorting: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2724912"/>
            <a:ext cx="1234440" cy="457200"/>
          </a:xfrm>
          <a:prstGeom prst="rect">
            <a:avLst/>
          </a:prstGeom>
          <a:solidFill>
            <a:srgbClr val="1A2C10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2724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Karim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709928" y="2724912"/>
            <a:ext cx="1234440" cy="457200"/>
          </a:xfrm>
          <a:prstGeom prst="rect">
            <a:avLst/>
          </a:prstGeom>
          <a:solidFill>
            <a:srgbClr val="1A2C10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709928" y="2724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Mitu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054096" y="2724912"/>
            <a:ext cx="1234440" cy="457200"/>
          </a:xfrm>
          <a:prstGeom prst="rect">
            <a:avLst/>
          </a:prstGeom>
          <a:solidFill>
            <a:srgbClr val="1A2C10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054096" y="2724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Nasrin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398264" y="2724912"/>
            <a:ext cx="1234440" cy="457200"/>
          </a:xfrm>
          <a:prstGeom prst="rect">
            <a:avLst/>
          </a:prstGeom>
          <a:solidFill>
            <a:srgbClr val="1A2C10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98264" y="2724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Rahim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742432" y="2724912"/>
            <a:ext cx="1234440" cy="457200"/>
          </a:xfrm>
          <a:prstGeom prst="rect">
            <a:avLst/>
          </a:prstGeom>
          <a:solidFill>
            <a:srgbClr val="1A2C10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42432" y="2724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Rafi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65760" y="3337560"/>
            <a:ext cx="4754880" cy="1463040"/>
          </a:xfrm>
          <a:prstGeom prst="rect">
            <a:avLst/>
          </a:prstGeom>
          <a:solidFill>
            <a:srgbClr val="0A1520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34290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Swap if names are out of order
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(strcmp(ptr-&gt;name, ptr-&gt;next-&gt;name) &gt; 0) {
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tmp[50];
</a:t>
            </a:r>
            <a:pPr indent="0" marL="0">
              <a:buNone/>
            </a:pPr>
            <a:r>
              <a:rPr lang="en-US" sz="110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strcpy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(tmp, ptr-&gt;name);
</a:t>
            </a:r>
            <a:pPr indent="0" marL="0">
              <a:buNone/>
            </a:pPr>
            <a:r>
              <a:rPr lang="en-US" sz="110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strcpy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(ptr-&gt;name, ptr-&gt;next-&gt;name);
</a:t>
            </a:r>
            <a:pPr indent="0" marL="0">
              <a:buNone/>
            </a:pPr>
            <a:r>
              <a:rPr lang="en-US" sz="110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strcpy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(ptr-&gt;next-&gt;name, tmp);  }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303520" y="3337560"/>
            <a:ext cx="3474720" cy="1463040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4068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Time Complexity: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440680" y="3611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775"/>
                </a:solidFill>
              </a:rPr>
              <a:t>O(n²) worst case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4068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Space Complexity: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440680" y="40507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775"/>
                </a:solidFill>
              </a:rPr>
              <a:t>O(1) — in-place sort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440680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Swaps: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40680" y="44897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775"/>
                </a:solidFill>
              </a:rPr>
              <a:t>Only contact data, not pointers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Menu &amp;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749040"/>
          </a:xfrm>
          <a:prstGeom prst="rect">
            <a:avLst/>
          </a:prstGeom>
          <a:solidFill>
            <a:srgbClr val="080F18"/>
          </a:solidFill>
          <a:ln w="19050">
            <a:solidFill>
              <a:srgbClr val="1D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solidFill>
            <a:srgbClr val="12202E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868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╔══════════════════════╗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  CONTACT BOOK      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╠══════════════════════╣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1. Add Contact       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2. Search (BST)      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3. Delete Contact    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614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4. Display All       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083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5. Sort A-Z          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6. BST In-Order      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021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7. Exit              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╚══════════════════════╝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959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_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4114800" cy="512064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868680"/>
            <a:ext cx="54864" cy="5120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905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Add Contact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1143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Uses: Linked List + BST insert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490472"/>
            <a:ext cx="4114800" cy="512064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490472"/>
            <a:ext cx="54864" cy="5120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5270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Search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8032" y="1764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Uses: BST search O(log 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112264"/>
            <a:ext cx="4114800" cy="512064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112264"/>
            <a:ext cx="54864" cy="5120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1488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Delete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28032" y="2386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Uses: Linked List + BST delete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734056"/>
            <a:ext cx="4114800" cy="512064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734056"/>
            <a:ext cx="54864" cy="5120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7706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Display All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28032" y="3008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Uses: Traverse Linked List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355848"/>
            <a:ext cx="4114800" cy="512064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355848"/>
            <a:ext cx="54864" cy="5120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3924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Sort A–Z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28032" y="3630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Uses: Bubble Sort on list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977640"/>
            <a:ext cx="4114800" cy="512064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977640"/>
            <a:ext cx="54864" cy="5120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0142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BST In-Order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28032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Uses: In-order traversal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&amp; Space Complexity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371600" cy="411480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3B1"/>
                </a:solidFill>
              </a:rPr>
              <a:t>Operation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960120"/>
            <a:ext cx="2286000" cy="411480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960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75"/>
                </a:solidFill>
              </a:rPr>
              <a:t>Linked 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960120"/>
            <a:ext cx="2286000" cy="411480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960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4AB7"/>
                </a:solidFill>
              </a:rPr>
              <a:t>BST (avg)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960120"/>
            <a:ext cx="2286000" cy="411480"/>
          </a:xfrm>
          <a:prstGeom prst="rect">
            <a:avLst/>
          </a:prstGeom>
          <a:solidFill>
            <a:srgbClr val="162435"/>
          </a:solidFill>
          <a:ln w="12700">
            <a:solidFill>
              <a:srgbClr val="1D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960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9F27"/>
                </a:solidFill>
              </a:rPr>
              <a:t>Bubble Sort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3716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716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37360" y="1371600"/>
            <a:ext cx="22860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3716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23360" y="1371600"/>
            <a:ext cx="22860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3716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2860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3716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1865376"/>
            <a:ext cx="1371600" cy="420624"/>
          </a:xfrm>
          <a:prstGeom prst="rect">
            <a:avLst/>
          </a:prstGeom>
          <a:solidFill>
            <a:srgbClr val="111E2D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86537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37360" y="1865376"/>
            <a:ext cx="2286000" cy="420624"/>
          </a:xfrm>
          <a:prstGeom prst="rect">
            <a:avLst/>
          </a:prstGeom>
          <a:solidFill>
            <a:srgbClr val="111E2D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18653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23360" y="1865376"/>
            <a:ext cx="2286000" cy="420624"/>
          </a:xfrm>
          <a:prstGeom prst="rect">
            <a:avLst/>
          </a:prstGeom>
          <a:solidFill>
            <a:srgbClr val="111E2D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18653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1865376"/>
            <a:ext cx="2286000" cy="420624"/>
          </a:xfrm>
          <a:prstGeom prst="rect">
            <a:avLst/>
          </a:prstGeom>
          <a:solidFill>
            <a:srgbClr val="111E2D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8653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359152"/>
            <a:ext cx="13716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3591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737360" y="2359152"/>
            <a:ext cx="22860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23591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023360" y="2359152"/>
            <a:ext cx="22860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23591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2359152"/>
            <a:ext cx="22860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3591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2852928"/>
            <a:ext cx="1371600" cy="420624"/>
          </a:xfrm>
          <a:prstGeom prst="rect">
            <a:avLst/>
          </a:prstGeom>
          <a:solidFill>
            <a:srgbClr val="111E2D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85292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737360" y="2852928"/>
            <a:ext cx="2286000" cy="420624"/>
          </a:xfrm>
          <a:prstGeom prst="rect">
            <a:avLst/>
          </a:prstGeom>
          <a:solidFill>
            <a:srgbClr val="111E2D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83080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023360" y="2852928"/>
            <a:ext cx="2286000" cy="420624"/>
          </a:xfrm>
          <a:prstGeom prst="rect">
            <a:avLst/>
          </a:prstGeom>
          <a:solidFill>
            <a:srgbClr val="111E2D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69080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09360" y="2852928"/>
            <a:ext cx="2286000" cy="420624"/>
          </a:xfrm>
          <a:prstGeom prst="rect">
            <a:avLst/>
          </a:prstGeom>
          <a:solidFill>
            <a:srgbClr val="111E2D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3346704"/>
            <a:ext cx="13716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34670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737360" y="3346704"/>
            <a:ext cx="22860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83080" y="33467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023360" y="3346704"/>
            <a:ext cx="22860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9080" y="33467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309360" y="3346704"/>
            <a:ext cx="2286000" cy="420624"/>
          </a:xfrm>
          <a:prstGeom prst="rect">
            <a:avLst/>
          </a:prstGeom>
          <a:solidFill>
            <a:srgbClr val="162435"/>
          </a:solidFill>
          <a:ln w="6350">
            <a:solidFill>
              <a:srgbClr val="1D3A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33467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16243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</a:rPr>
              <a:t>Key Insight: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4360" y="4297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</a:rPr>
              <a:t>Linked List handles storage &amp; deletion. BST makes search fast (O(log n) vs O(n)). Bubble Sort is simple to understand and perfect for demo purposes.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1"/>
                </a:solidFill>
              </a:rPr>
              <a:t>What we built and what we learned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560320" cy="2286000"/>
          </a:xfrm>
          <a:prstGeom prst="rect">
            <a:avLst/>
          </a:prstGeom>
          <a:solidFill>
            <a:srgbClr val="162435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56032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54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Linked List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670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Dynamic storage for all contacts. Insert at end, delete by name, traverse for display.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60320" cy="2286000"/>
          </a:xfrm>
          <a:prstGeom prst="rect">
            <a:avLst/>
          </a:prstGeom>
          <a:solidFill>
            <a:srgbClr val="162435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BST Search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2670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Every contact also goes into a BST. Searching by name is O(log n) — much faster than linear.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560320" cy="2286000"/>
          </a:xfrm>
          <a:prstGeom prst="rect">
            <a:avLst/>
          </a:prstGeom>
          <a:solidFill>
            <a:srgbClr val="162435"/>
          </a:solidFill>
          <a:ln w="1905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5544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Bubble Sort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2670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Sorts the linked list A–Z. Simple algorithm, swaps contact data without changing node pointers.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" y="3886200"/>
            <a:ext cx="7315200" cy="822960"/>
          </a:xfrm>
          <a:prstGeom prst="rect">
            <a:avLst/>
          </a:prstGeom>
          <a:solidFill>
            <a:srgbClr val="16243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97280" y="3950208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DF2"/>
                </a:solidFill>
              </a:rPr>
              <a:t>This project shows how multiple DSA concepts work together in one real-world application.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 Book - DSA Project</dc:title>
  <dc:subject>PptxGenJS Presentation</dc:subject>
  <dc:creator>PptxGenJS</dc:creator>
  <cp:lastModifiedBy>PptxGenJS</cp:lastModifiedBy>
  <cp:revision>1</cp:revision>
  <dcterms:created xsi:type="dcterms:W3CDTF">2026-04-10T17:02:18Z</dcterms:created>
  <dcterms:modified xsi:type="dcterms:W3CDTF">2026-04-10T17:02:18Z</dcterms:modified>
</cp:coreProperties>
</file>